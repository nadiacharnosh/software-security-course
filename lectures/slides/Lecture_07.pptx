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2000000"/>
            <a:ext cx="7700000" cy="2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FC7CE"/>
                </a:solidFill>
              </a:rPr>
              <a:t>Лекція 7</a:t>
            </a:r>
          </a:p>
          <a:p>
            <a:r>
              <a:rPr sz="3400" b="1">
                <a:solidFill>
                  <a:srgbClr val="FFFFFF"/>
                </a:solidFill>
              </a:rPr>
              <a:t>Реалізація розмежування доступу та моніторинг безпеки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6050000"/>
            <a:ext cx="77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8FC7CE"/>
                </a:solidFill>
              </a:rPr>
              <a:t>Безпека програмного забезпечення · КПІ ім. Ігоря Сікорського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Реалізація розмежування доступу та моніторинг безпеки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Лекція 7 · Безпека програмного забезпечення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Розділ 3. Моделі та механізми розмежування доступу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ФІОТ, кафедра ІПІ, КПІ ім. Ігоря Сікорського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 / 30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Від формальних моделей до механізмів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Лекція 6: матриця, мандатні моделі, критерії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7.1 Дискреційне розмежування: ACL і повноваження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7.2 Мандатне розмежування: SELinux, AppArmor, контейнери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7.3 Рольова та атрибутна моделі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7.4 Журналювання та моніторинг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Перерва після 7.2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Матриця доступу: дві декомпозиції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5·10^3^ суб'єктів × 2·10^6^ об'єктів = 10^10^ комірок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Заповнено частки відсотка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 стовпцями → список керування доступом (ACL)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 рядками → список повноважень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Повноваження — непідроблюване посилання на об'єкт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Копію повноваження можна передати → делегування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ACL і повноваження: вартість операцій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Хто має доступ: ACL — список, повноваження — перебір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До чого має доступ: повноваження — список, ACL — перебір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Відкликання: ACL — негайне, повноваження — знецінення копій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Делегування: повноваження — копія, ACL — право на список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Вартості дзеркальні; вибір визначає найчастіша операція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4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Права доступу Unix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Три категорії: власник, група, інші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Три біти: r, w, x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rwxr-x--- = 750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x для каталогу — право проходу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Вироджений ACL сталої довжини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5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Спеціальні біти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setuid = 4, setgid = 2, sticky = 1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setuid: ефективний UID = власник файла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Привілей належить програмі, не користувачеві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Дефект setuid-програми = підвищення привілеїв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/tmp = 1777: вилучає власник файла або каталогу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6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Маска umask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P~факт~ = P~баз~ ∧ ¬U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Базові права: файл 0666, каталог 0777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U = 0022 → 0644 і 0755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U = 0077 → 0600 і 0700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Маска перелічує біти, які знімають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7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POSIX ACL і привілеї Linux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setfacl -m u:backup:r-- report.pdf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Привілеї Linux дроблять права root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Не посилання на об'єкт, а перелік дій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CAP_NET_BIND_SERVICE — окрема дія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CAP_DAC_OVERRIDE, CAP_SYS_ADMIN ≈ повні права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8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Windows: маркер і дескриптор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Маркер доступу: SID користувача і груп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Маркер містить перелік привілеїв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Дескриптор безпеки: власник, група, DACL, SACL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DACL — дозволи й заборони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SACL — звернення, що реєструють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ACE: SID, маска прав, тип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9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Windows: перевірка DACL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Немає DACL → повний доступ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Порожній DACL → відмова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Заборонний ACE із SID маркера → відмова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Дозвільні ACE накопичують права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Канонічний порядок: явні → успадковані, заборони → дозволи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Привілеї маркера діють поза DACL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10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Мандатне розмежування в ядрі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DAC: програма має всі права користувача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MAC: рішення визначає політика системи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Модуль безпеки ядра, перехоплювачі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DAC → MAC → реєстрація рішення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Мандатна політика лише звужує доступ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Працює без політики, не працює з нею → політика вузька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11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SELinux: контекст і типи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користувач:роль:тип:рівень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system_u:system_r:httpd_t:s0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Type enforcement: заборонено все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Політика — лише дозвільні правила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Тип процесу = домен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12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SELinux: перехід домену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allow httpd_t httpd_sys_content_t:file { open read };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type_transition init_t httpd_exec_t : process httpd_t;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Перехід потребує трьох дозволів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execute · transition · entrypoint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Зламаний httpd_t не читає /etc/shadow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13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SELinux і AppArmor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enforcing — блокує й реєструє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permissive — лише реєструє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SELinux: мітка в розширеному атрибуті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AppArmor: шлях у файловій системі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Перейменування: мітка лишається, правило втрачається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Шлях вразливий до жорстких посилань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14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Контейнери: межі ізоляції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Контейнер не є межею безпеки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Спільне ядро вузла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Простори імен — видимість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cgroups — ресурси; seccomp — системні виклики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Вилучення привілеїв, непривілейований користувач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Різні рівні довіри → віртуальна машина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15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Контейнери: запуск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docker run --privileged -v /:/host image:1.0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Вразливо: без обмежень, корінь вузла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docker run --user 10001:10001 --cap-drop=ALL ...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no-new-privileges, профіль seccomp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Порт 8080 усередині, 443 на вузлі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Від дефекту ядра не захищає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16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Рольова модель: кількість зв'язків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Дозволи → ролям, ролі → користувачам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N~пряме~ = |U|·|P|,  N~RBAC~ = |U|·r + |R|·p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|U| = 500, |P| = 200, |R| = 20, r = 2, p = 15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100 000 зв'язків → 1300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Основний виграш — оглядність політики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17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Родина RBAC і розділення обов'язків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RBAC0 — базова модель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RBAC1 — ієрархія, RBAC2 — обмеження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RBAC3 — об'єднання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Статичне: конфліктні ролі не призначають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Динамічне: не активують в одній сесії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Ієрархія накопичує права → періодичний перегляд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18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Матриця конфліктів ролей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C[i, j] = 1 — поєднання заборонене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Ініціатор — затверджувач бюджету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Ініціатор — приймальник; приймальник — бухгалтер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Адміністратор ролей — будь-яка інша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роль r надається ⟺ ∀r': C[r, r'] = 0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Конфлікт між ролями, а не дозволами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19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Атрибутна модель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дозвіл ⟺ f(A~s~, A~o~, A~a~, A~e~)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Атрибути суб'єкта, об'єкта, дії, середовища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role == "physician" and action == "read"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obj.department == subject.department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8 &lt;= env.hour &lt;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20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RBAC чи ABAC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ABAC: великі змінні множини об'єктів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ABAC: рішення залежить від контексту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Сталі посадові функції → RBAC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ABAC знижує верифіковність політики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Гібрид: роль як атрибут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21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Перевірка лише в інтерфейсі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Пункт меню приховано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Обробник на сервері не перевіряє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Приховування елемента не є захистом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Порушення повного посередництва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Сервер: кожне звернення, конкретний об'єкт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Відмову реєструють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22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Зведення моделей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DAC: власник · пара «суб'єкт — об'єкт»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MAC: адміністратор безпеки · мітка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RBAC: адміністратор ролей · роль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ABAC: автор політики · предикат</a:t>
            </a:r>
          </a:p>
          <a:p>
            <a:pPr>
              <a:spcAft>
                <a:spcPts val="1200"/>
              </a:spcAft>
            </a:pPr>
            <a:r>
              <a:rPr sz="1700" i="1">
                <a:solidFill>
                  <a:srgbClr val="006D77"/>
                </a:solidFill>
              </a:rPr>
              <a:t>Межі: права власника, трудомісткість, контекст, аудит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23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Журнали: призначення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Запобіжні заходи не бувають повними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Виявлювальний контроль і невідмовність (R у STRIDE)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Операційний журнал: діагностика, розробник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Реєстраційний журнал: відповідальність, служба безпеки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006D77"/>
                </a:solidFill>
              </a:rPr>
              <a:t>▸  Змішування журналів вимикає реєстрацію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24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Запис реєстраційного журналу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Коли: 2026-03-14T08:41:02Z (UTC)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Хто: u-10427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Що і над чим: invoice.read, inv-2026-0091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Результат і причина: deny, pol-dept-mismatch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Вхід, зміна прав, відмови, адміністратори, експорт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Серія відмов одного суб'єкта — розвідка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25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Захист журналу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Без паролів, токенів, ключів, сесій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Режим лише додавання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Негайна копія на окремий вузол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h~i~ = H(h~i−1~ ‖ r~i~)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Відсікання хвоста → публікація поточного h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Час — у UTC, єдине джерело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26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Базова лінія поведінки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Метрика: невдалі входи, обсяг вивантаження</a:t>
            </a:r>
          </a:p>
          <a:p>
            <a:pPr algn="ctr">
              <a:spcAft>
                <a:spcPts val="12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z = (x − μ) / σ,  аномалія за |z| &gt; 3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μ = 4, σ = 2, x = 20 → z = 8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Базова лінія — у чистий період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2B2B2B"/>
                </a:solidFill>
              </a:rPr>
              <a:t>•  Розподіли рідко нормальні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27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Частка справжніх сигналів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10^6^ сесій, частка зловмисних 10^−4^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Чутливість 0,99 → 99 виявлених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Хибні спрацювання 0,01 → ≈ 9 999</a:t>
            </a:r>
          </a:p>
          <a:p>
            <a:pPr algn="ctr">
              <a:spcAft>
                <a:spcPts val="800"/>
              </a:spcAft>
            </a:pPr>
            <a:r>
              <a:rPr sz="2000" b="1">
                <a:solidFill>
                  <a:srgbClr val="0B2A4A"/>
                </a:solidFill>
                <a:latin typeface="Courier New"/>
              </a:rPr>
              <a:t>99 / (99 + 9 999) ≈ 0,0098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Знижувати хибнопозитивні важливіше за чутливість</a:t>
            </a:r>
          </a:p>
          <a:p>
            <a:pPr>
              <a:spcAft>
                <a:spcPts val="800"/>
              </a:spcAft>
            </a:pPr>
            <a:r>
              <a:rPr sz="1700" i="1">
                <a:solidFill>
                  <a:srgbClr val="006D77"/>
                </a:solidFill>
              </a:rPr>
              <a:t>Сигнал без процедури реагування — не контроль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28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Висновки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ACL — відкликання, повноваження — делегування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MAC лише звужує доступ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SELinux — мітка, AppArmor — шлях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RBAC — оглядність, ABAC — контекст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06D77"/>
                </a:solidFill>
              </a:rPr>
              <a:t>▸  Перевірка в інтерфейсі — не розмежування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</a:rPr>
              <a:t>•  Журнал: цілісність, час, хибні спрацювання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29 /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0000" y="400000"/>
            <a:ext cx="79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2A4A"/>
                </a:solidFill>
              </a:rPr>
              <a:t>Самостійне опрацювання та наступна лекція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600000" y="1450000"/>
            <a:ext cx="900000" cy="45000"/>
          </a:xfrm>
          <a:prstGeom prst="rect">
            <a:avLst/>
          </a:prstGeom>
          <a:solidFill>
            <a:srgbClr val="006D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1750000"/>
            <a:ext cx="7700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Проблема заплутаного заступника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XACML: точки рішень, поєднання правил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2B2B2B"/>
                </a:solidFill>
              </a:rPr>
              <a:t>•  Кореляція подій, техніки ATT&amp;CK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006D77"/>
                </a:solidFill>
              </a:rPr>
              <a:t>▸  Лекція 8. Парольні системи та багатофакторна автентифікація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00000" y="6100000"/>
            <a:ext cx="6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>
                <a:solidFill>
                  <a:srgbClr val="999999"/>
                </a:solidFill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Лекція 7. Реалізація розмежування доступу та моніторинг безпеки</dc:title>
  <dc:subject>Безпека програмного забезпечення</dc:subject>
  <dc:creator>Соколовський В. В.</dc:creator>
  <cp:keywords/>
  <dc:description/>
  <cp:lastModifiedBy>Соколовський В. В.</cp:lastModifiedBy>
  <cp:revision>1</cp:revision>
  <dcterms:created xsi:type="dcterms:W3CDTF">2026-10-07T07:16:13Z</dcterms:created>
  <dcterms:modified xsi:type="dcterms:W3CDTF">2026-10-07T07:16:13Z</dcterms:modified>
  <cp:category/>
</cp:coreProperties>
</file>