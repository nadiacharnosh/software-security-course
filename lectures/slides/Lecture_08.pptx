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8</a:t>
            </a:r>
          </a:p>
          <a:p>
            <a:r>
              <a:rPr sz="3400" b="1">
                <a:solidFill>
                  <a:srgbClr val="FFFFFF"/>
                </a:solidFill>
              </a:rPr>
              <a:t>Парольні системи та багатофакторна автентифікація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Парольні системи та багатофакторна автентифікація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8 курсу «Безпека ПЗ»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Лекції 6–7: рішення за ідентифікатором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Достовірність ідентифікатора — задача автентифікації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9: розподілені застосунки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8.1 Чинники та вимоги до паролів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8.2 Зберігання та перевірка паролів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8.3 Оцінювання стійкості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8.4 MFA і вхід без пароля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Три етапи опрацювання звернення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Ідентифікація: «я — суб'єкт X»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Автентифікація: доведення володіння свідченням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Авторизація: рішення про дію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Ідентифікатор нічого не підтверджує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Автентифікація не надає прав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Ім'я із заголовка запиту — автентифікацію пропущено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Чинники автентифікації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Знання: пароль, PIN-код, парольна фраза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Підбір, фішинг, повторне використання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Володіння: ключ, смартфон, картка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Викрадення, клонування; втрата блокує доступ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Властивість: відбиток пальця, обличчя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Підробка зразка; шаблон незамінний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Біометрія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Звіряння шаблонів — ймовірнісне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Розблоковує справжнє свідчення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 застосовують як єдиний чинник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NIST SP 800-63B: лише у складі MFA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Пароль лишається основним чинником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NIST SP 800-63B: перегляд вимог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Композиційні правила — SHOULD NOT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Ротація 60–90 діб — лише за компрометації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Довжина ≥ 8 (SHALL), підтримка 64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Усі друковані символи, вставляння дозволене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Перевірка за списком скомпрометованих — SHALL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Логіка змін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Редакція 4 (2025): 8 обов'язково, 15 рекомендовано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Parol1! і Parol1 → Parol2 — шаблон замість ентропії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Психологічна прийнятність (лекція 5)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Список: часткове розкриття хеш-суми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Парольна фраза: 4–5 не пов'язаних слів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Менеджер паролів: унікальний пароль на сервіс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Зміна та скидання пароля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Зміна лише за ознак компрометації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Вимагати чинний пароль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Новий пароль — за списком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Скидання — альтернативний шлях входу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Посилання: короткий строк, одноразове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викриває існування запису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Загроза: витік бази облікових записів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Ін'єкція SQL, резервна копія, внутрішній порушник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Відновлення паролів — обчислювально невиправдане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Відкрите зберігання компрометує інші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MD5, SHA-256: мільярди кандидатів/с на GPU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Однакові паролі — однакові записи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Райдужні таблиці замінюють перебір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Сіль (salt)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Унікальне випадкове значення запису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Зберігається відкрито поряд із хешем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Кожен запис — окрема задача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Таблиця — під кожну сіль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сіль ≥ 32 біти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Перебору одного запису не сповільнює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Перець (pepper)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Таємний ключ інсталяції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запис = KDF(HMAC(перець, пароль), сіль)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Зберігається поза базою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Витекла лише база — перебір неможливий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Витекла й конфігурація — захисту немає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Заміна перцю складна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Функції формування ключа з пароля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PBKDF2: ітерації; час — низька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bcrypt: вартість; 4 КіБ, вхід 72 байти — середня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scrypt: N, r, p; час і пам'ять — висока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Argon2id: m, t, p; час і пам'ять — висока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Пам'ять як ресурс проти перебору на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Argon2id за RFC 9106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1-ша половина 1-го проходу: незалежна адресація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Далі — залежна від пароля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Профіль: 2 ГіБ, t = 1, p = 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Профіль: 64 МіБ, t = 3, p = 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 триває 0,5–1 с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$id$salt$hash   1 · 2b · argon2id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Уразлива перевірка: verify_v1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db.load(login) == sha256(password)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Швидка функція — швидкість GPU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 солі — однакові записи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= уривається на першій розбіжності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Побічний канал за часом (лекція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Виправлення: verify_v2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PasswordHasher: m = 64 МіБ, t = 3, p = 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ph.hash: алгоритм, параметри, сіль, хеш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ph.verify: звіряння за сталий час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InvalidHashError → migrate_legacy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VerificationError → відмова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Усунено всі три дефекти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повільного хешування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Перебір довший пропорційно вартості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рятує словникового пароля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захищає від фішингу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захищає від підстановки облікових даних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Хеш на клієнті — еквівалент пароля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Простір паролів і ентропія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A^L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H = L · log₂ 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 — потужність алфавіту, L — довжина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Верхні оцінки: рівномірна генерація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Пароль, обраний людиною, — дійсна ентропія нижча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Співвідношення Андерсона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 ≥ R · T / 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R — швидкість спроб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 — вікно до виявлення й зміни пароля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N — розмір простору паролів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T скорочують виявленням, не ротацією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Мінімальна довжина пароля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T, R, N — проєктні рішення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P — вимога безпеки</a:t>
            </a:r>
          </a:p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0B2A4A"/>
                </a:solidFill>
                <a:latin typeface="Courier New"/>
              </a:rPr>
              <a:t>L_min = ⌈ lg(R · T / P) / lg A ⌉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Вимога безпеки → норма довжини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Приклад: P = 10⁻⁶, A = 62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Онлайн, 10² спроб/с, 90 діб → 9 (54 біт)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SHA-256 без солі, 10¹⁰/с, 30 діб → 13 (77 біт)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Argon2id 64 МіБ, 10³/с, 30 діб → 9 (54 біт)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Argon2id ≈ +4 символи довжини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 R = 10⁴ — виграш 3 символи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Атаки та межі контрзаходів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Повний перебір → A, L, вартість обчислення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Словник → списки; контекстні паролі проходять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Райдужні таблиці → унікальна сіль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Підстановка облікових даних → другий чинник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Розпилення → лічильники за джерелом і глобальний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Обмеження частоти спроб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Прогресивні затримки, ковзне вікно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Блокування запису — відмова в обслуговуванні (STRIDE, D)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 запис: підбір проти одного користувача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 джерелом: розпилення з одного вузла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Глобальний за паролем: розпилення з ботнету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Багатофакторна автентифікація (MFA)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Щонайменше 2 різні чинники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Пароль + секретне запитання — не MFA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Вартість атаки — мінімум по шляхах входу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Резервні коди, відновлення, застарілі протоколи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HOTP: одноразовий пароль на лічильнику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HOTP(K, C) = Truncate(HMAC-SHA-1(K, C)) mod 10^d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K — спільний секрет, C — лічильник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Зсув: 4 молодші розряди останнього байта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 — розрядів коду, зазвичай 6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Вікно синхронізації: зручність і ризик вгадування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TOTP і 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 = ⌊ (t − T₀) / X ⌋,  X = 30 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Допуск ±1 крок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Секрет на сервері в придатному вигляді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Код виманюють через проміжний сайт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SMS обмежено придатний: SIM-картка, сигнальні протоколи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WebAuthn/FIDO2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 свідчень чинника знання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Пара ключів, прив'язана до домену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Закритий ключ не залишає пристрою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Сервер зберігає лише відкритий ключ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Вхід: підпис одноразового виклику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 ідентифікатора домену + походження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Стійкість до фішингу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Підпис прив'язано до походження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Чужий домен: облікових даних немає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Чуже походження — сервер відхиляє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Одноразовий виклик — без повторного відтворення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Ключі доступу синхронізуються між пристроями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Безпека набору = безпека запису платформи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Відновлення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Найслабша ланка схеми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Скидання поштою = стійкість скриньки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Скидання за запитаннями — обхід MFA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Свідчення не слабші за основний шлях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Зміна чинника: сповіщення, припинення сесій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Три етапи — різні задачі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Довжина й списки замість правил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Сіль, перець, KDF — різні загрози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Мінімум вартостей шляхів входу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WebAuthn стійкий до фішингу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Далі: лекція 9, розподілені застосунки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8. Парольні системи та багатофакторна автентифікація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