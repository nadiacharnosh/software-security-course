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</a:t>
            </a:r>
          </a:p>
          <a:p>
            <a:r>
              <a:rPr sz="3400" b="1">
                <a:solidFill>
                  <a:srgbClr val="FFFFFF"/>
                </a:solidFill>
              </a:rPr>
              <a:t>Безпека програмного забезпечення як інженерна дисципліна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Лекція 1. Безпека ПЗ як інженерна дисципліна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Організаційна частина курсу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1.1 Предмет і властивості захищеності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1.2 Актив, загроза, вразливість, ризик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1.3 Економіка дефекту безпеки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1.4 Нормативно-правове забезпечення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відкриває курс із 15 лекцій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Дисципліна та її обсяг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4 курс, 121 Інженерія програмного забезпечення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Групи ІП-31 … ІП-35, осінній семестр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Лектор: Соколовський В. В., д-р філософії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4 кредити ЄКТС / 120 год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Лекції 30 · лабораторні 30 · СРС 60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15 лекцій, 7 розділів, екзамен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Рейтингова система оцінювання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6 лабораторних × 5 = 30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МКР-1 і МКР-2: 8 + 8 = 16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РГР = 14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60 (стартовий) + 40 (екзамен) = 100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Половина стартового рейтингу — лабораторний практикум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Допуск до екзамену і календарний контроль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Усі 6 лабораторних зараховані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РГР ≥ 8 балів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Обидві МКР виконано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Стартовий рейтинг ≥ 36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Чотири умови виконуються одночасно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Календарний контроль: 8-й тиждень ≥ 17, 14-й ≥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Графік лабораторних робіт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ЛР1 модель загроз — тижні 2–3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ЛР2 розмежування доступу — 4–6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ЛР3 ідентифікація й автентифікація — 7–9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ЛР4 криптографічні механізми — 10–12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ЛР5 OWASP Top 10 — 13–15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ЛР6 контроль у CI/CD —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Оцінювання лабораторної роботи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Виконання — 2 бали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Звіт — 1 бал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Захист — 2 бали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Запізнення: −1 бал за тиждень, максимум −2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Порушення правил стенда: −5 балів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РГР, МКР та екзамен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РГР «Аудит захищеності програмного застосунку»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Видача на 3-му тижні, 5 етапів, захист до 16-го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МКР-1: 9-й тиждень, розділи 1–4, 80 хв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МКР-2: 17-й тиждень, розділи 5–7, 80 хв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Екзамен: 2 питання × 12 + задача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Заохочувальні бали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Доповідь за темою курсу — 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Навчальний приклад для стенда — 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Призове місце в олімпіаді чи CTF — 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Реальна вразливість, відповідальне розкриття — 5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Сумарно не більше 10 балів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Неформальна освіта: заміна контрольних заходів, до 10 балів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Академічна доброчесність, етика, закон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ШІ — допоміжний засіб, зазначений у звіті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 захисті пояснюється будь-який фрагмент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Практика лише в ізольованому Docker Compose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Порти стенда — на 127.0.0.1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Ст. 361–363-1 КК України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Матеріали й записи лекцій — Campus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Об'єкт, предмет і мета дисципліни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Об'єкт: програмні системи та процеси створення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Предмет: властивості захищеності, методи збереження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Мета: зберігати властивості за наявності протидії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Надійність: випадкові відмови, статистика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Безпека: найгірший випадок, повторюваність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Захищеність визначає найслабша ланка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Базова тріада властивостей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Конфіденційність — недоступність неавторизованим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Цілісність — заборона зміни та її виявлення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Доступність — доступ у прийнятний час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Властивості конфліктують між собою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Блокування запису після невдалих спроб входу знижує доступність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Коефіцієнт готовності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 = T~роб~ / (T~роб~ + T~прост~)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Рік — 8760 годин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= 0,999 → 8,76 год простою на рік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= 0,9999 → близько 53 хв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Додатковий знак — резервування вузлів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Описує минулий період, не стійкість до цілеспрямованої відмови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Похідні властивості захищеності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Автентичність — суб'єкт є тим, за що себе видає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Невідмовність — неможливість заперечити дію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Підзвітність — зв'язок дії із суб'єктом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Симетричний код автентифікації невідмовності не дає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У НД ТЗІ підзвітності відповідає спостереженість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Вимога безпеки і функціональна вимога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Функціональна: що система має робити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Безпеки: чого не має робити за жодних даних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Перша перевіряється скінченним набором тестів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Друга — ні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Безпека — наскрізна властивість, а не функція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Ключ у репозиторії знецінює модуль шифрування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Актив, загроза, вразливість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Актив — усе, що має цінність для власника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Перелік активів складають першим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Загроза — потенційна причина шкоди активу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Загроза існує незалежно від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Вразливість — недолік архітектури, коду, конфігурації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Вразливість — властивість самої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Атака, експлойт, контрзахід, ризик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Атака — реалізація загрози через вразливість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Експлойт — доказ можливості використання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 — усунення або зменшення наслідків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Ризик — очікувана шкода активу; залишковий — після контрзаходів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Розробник усуває вразливості, а не загрози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 кожна вразливість є експлуатованою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Кількісне вираження ризику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 = P × 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 — імовірність за період, L — збиток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 лекції 3 та сама величина — I (вплив)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ALE = SLE × ARO = AV × EF × ARO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AV — вартість активу, EF — частка втрат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ARO — річна частота реалізації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 оцінювання контрзаходу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ALE = 2 000 000 × 0,3 × 0,2 = 120 000 грн/рік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40 000 грн/рік, ARO → 0,05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ALE' = 30 000 грн/рік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Виграш: 120 000 − 30 000 − 40 000 = 50 000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E = 1 − ALE'/ALE = 0,75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R~зал~ = R × (1 − E) = 30 000 грн/рік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Вразливість у коді: обхід каталогів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Ім'я від користувача в шляху без перевірки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`../../../etc/passwd` виводить за межі каталогу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path = realpath(join(BASE, name))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commonpath([BASE, path]) != BASE → PermissionError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Спершу нормалізація, потім перевірка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 захищає від читання чужого звіту в тому ж каталозі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Асиметрія внесення і виявлення дефектів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Вимоги — аналіз вимог — 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Проєктування — моделювання загроз — одиниці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Кодування — огляд коду, статичний аналіз — ≈ 10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Тестування — динамічний аналіз — десятки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Експлуатація — інцидент, звіт — сотні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Вносять рано, виявляють пізно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Показникова модель вартості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C(n) = C~0~ × k^n^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C~0~ — вартість на фазі внесення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— кількість фаз до виявлення, k = 3…10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C~0~ = 1,5 год, k = 4, n = 4 → 384 год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384 год ≈ 48 людино-днів ≈ 2,3 людино-місяця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Для n = 4 крайні оцінки різняться у 123 рази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Зсув уліво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Моделювання загроз — до написання коду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Автоматичні перевірки — на кожній зміні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Детально: лекції 4 і 15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Межа: конфігурація й залежності видно на працюючій системі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Порядок лабораторних робіт повторює порядок фаз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Класи систем за критичністю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 — загроза життю: повний цикл, аудит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B — персональні дані: моделювання загроз, SAST, SCA, тестування на проникнення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 — бізнес-процес: огляд коду, автоперевірки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 — прототипи: базові практики кодування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Витрати співмірні з можливою шкодою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Національні критерії ТЗІ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НД ТЗІ 2.5-004-99: комплекс засобів захисту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Напрями оцінювання: К, Ц, Д, 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Гарантії реалізації: Г-1 … Г-7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НД ТЗІ 2.5-005-99: 3 класи систем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Функціональні профілі захищеності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2.КЦД.3 — профіль 3, клас 2, напрями К, Ц, 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Міжнародні стандарти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ISO/IEC 27001: управління безпекою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Активи, ризики, заходи, результативність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Сертифікація організації ≠ захищеність застосунку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ISO/IEC 27034: заходи рівня застосунку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Прив'язка до фаз циклу й рівня довіри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Нормативні вимоги задають мінімальний рівень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Захист персональних даних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GDPR діє й поза межами ЄС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Ст. 5: мета, мінімізація, строк, підзвітність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Ст. 25: захист за задумом і за замовчуванням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Ст. 32: заходи, співмірні з ризиком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Ст. 83: до 20 млн євро або 4 % обороту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Національно — Закон України «Про захист персональних даних»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Персональні дані в журналах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Журнали живуть довше за робочі дані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Уразливо: пошта та IP у відкритому вигляді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tag = HMAC-SHA256(PEPPER, email)[:16]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мережа /24 для IPv4, /64 для IPv6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Події зіставляються, особа не розкривається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Псевдонім стійкий, доки стійкий ключ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Відповідальність за втручання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КК України, розділ XVI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Ст. 361 — несанкціоноване втручання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Ст. 361-1 — шкідливі програмні засоби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Ст. 362 — дії особи з правом доступу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Без письмового дозволу власника — кримінальне правопорушення (ст. 361–363-1)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 до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Захищеність оцінюють за найгіршим випадком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Безпека — наскрізна властивість, а не функція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Тріада та похідні властивості конфліктують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Усувають вразливості; лишається залишковий ризик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Вартість дефекту зростає на порядок із фазою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Нормативне поле: ТЗІ, ISO/IEC, персональні дані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Самостійна робота та наступна лекція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Гексада Паркера і напрями НД ТЗІ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NIST SP 800-30 і FAIR: умови застосовності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Закон про основні засади кібербезпеки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Лекція 2: загрози, вразливості, модель порушника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ЛР1 «Модель загроз» — тижні 2–3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Підготувати Docker і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1. Безпека програмного забезпечення як інженерна дисципліна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