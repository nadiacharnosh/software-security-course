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2000000"/>
            <a:ext cx="77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FC7CE"/>
                </a:solidFill>
              </a:rPr>
              <a:t>Лекція 14</a:t>
            </a:r>
          </a:p>
          <a:p>
            <a:r>
              <a:rPr sz="3400" b="1">
                <a:solidFill>
                  <a:srgbClr val="FFFFFF"/>
                </a:solidFill>
              </a:rPr>
              <a:t>Аналіз захищеності та захист програм від дослідження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6050000"/>
            <a:ext cx="7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FC7CE"/>
                </a:solidFill>
              </a:rPr>
              <a:t>Безпека програмного забезпечення · КПІ ім. Ігоря Сікорського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Аналіз захищеності та захист програм від дослідження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Лекція 14 курсу «Безпека ПЗ»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Лекції 12–13: класи дефектів реалізації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6D77"/>
                </a:solidFill>
              </a:rPr>
              <a:t>▸  Сьогодні: методи їх пошуку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Окремо: середовище під контролем зловмисника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План лекції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14.1 Статичний аналіз програмного коду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14.2 Динамічний аналіз, фазинг, пентест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14.3 Аналіз складу ПЗ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14.4 Захист від несанкціонованого дослідження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SAST: аналіз за текстом програми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Static Application Security Testing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Аналіз без виконання програми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Бачить усі гілки, зокрема непокриті тестами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Дає адресу дефекту — рядок коду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 бачить конфігурації, прав, оточення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Поділ методів за спостережуваністю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Проміжні подання аналізатора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AST — яку конструкцію використано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CFG — переходи між базовими блоками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Потік даних — яку величину має змінна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Зростання точності й вартості аналізу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Лише потік даних пов'язує появу з використанням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Аналіз забруднених даних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Taint analysis — механізм пошуку ін'єкцій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Джерело: параметр запиту, поле форми, файл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Стік: оболонка, SQL, формування розмітки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Санітайзер: знімає позначку забруднення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Дефект = шлях джерело → стік без санітайзера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Модель оцінює походження, а не вміст даних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Приклад: виклик оболонки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Джерело request.args.get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Стік subprocess.run(shell=True)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Санітайзер shlex.quote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ping_v1: рядок розбирає оболонка — CWE-78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ping_v2: аргументи списком, оболонки немає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Збігу зі стоком у другому варіанті немає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Принципова межа методу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Аналізатор шукає синтаксичний образ, не семантику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Досяжність стоку — нетривіальна властивість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Зводиться до проблеми зупинки; теорема Райса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Точний статичний аналіз неможливий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Наближення згори (sound): є хибнопозитивні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Наближення знизу: менше шуму, є хибнонегативні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Точність і повнота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P = TP / (TP + FP)   R = TP / (TP + FN)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200 знахідок, 40 істинні, 50 дефектів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 = 0,2; R = 0,8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Розбір 160 хибних ≈ 40 людино-годин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Долю інструмента вирішує точність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Звіт, який перестали читати, має повноту нуль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Тріаж і базова лінія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Тріаж: істинна / хибна / прийнятний ризик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Рішення фіксують у коді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Базова лінія: успадковані знахідки не блокують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Чистоти вимагають від змінених рядків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Базова лінія — не приховування дефектів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Інструменти статичного аналізу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Semgrep: шаблон на AST, режим забруднення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Обмежений міжпроцедурний аналіз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Bandit: готові перевірки AST для Python, шум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CodeQL: запити до бази подань коду, витратна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Критерії: мови, власні правила, частка FP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Частку FP перевіряють на коді свого проєкту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DAST: аналіз ззовні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Dynamic Application Security Testing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Без доступу до коду, система розгорнута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Обхідник: карта точок входу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Генератор навантажень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Оракул: помилка СУБД, час, зовнішнє звернення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Межі DAST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Покриття — лише знайдені точки входу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Багатокрокові форми не перевіряються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Автентифіковане сканування — з правами ролі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Виключити вихід із системи та зміну пароля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Знахідка не має адреси в коді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IAST: агент у середовищі виконання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Interactive Application Security Testing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Інструментує середовище, бачить потік даних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Працює під час функційних тестів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Адреса в коді та врахована конфігурація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Мало хибнопозитивних: шлях реально пройдено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Результативність обмежена покриттям тестами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Фазинг: два підходи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Автоматичні входи + контроль аномалій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Генеративний: за граматикою чи специфікацією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Мутаційний: зміни коректних зразків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Переверт бітів, дублювання та вилучення фрагментів, межові числа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Обидва безсилі проти вузької умови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Бар'єр вузької умови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P = 1 - (1 - 2^-k)^N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Гілка потребує точної величини k-розрядного поля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k = 32, N = 10^6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P ≈ 2,3 · 10^-4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Мільйон запусків гілки не досягне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Бар'єр долають не обсягом перебору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Зворотний зв'язок за покриттям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Інструментація позначає пройдені переходи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Новий перехід — вхід зберігають до корпусу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Мутації будують саме з нього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Просування розбито на малі кроки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Реалізовано в AFL++ і libFuzzer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Фазинг непрозорого двійкового артефакта значно менш результативний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Оракул фазингу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Аварійне завершення — лише грубі дефекти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Санітайзери (лекція 12) роблять дефект видимим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Тихе псування пам'яті → негайне падіння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Інваріант decode(encode(x)) == x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Тестування на основі властивостей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Обгортка й критерій зупинки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Детермінованість, тисячі запусків за секунду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Вузький перелік перехоплюваних винятків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except Exception приховує шукані дефекти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Мінімізований корпус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Зупинка за насиченням: нових переходів немає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Полиця покриття не означає відсутності дефектів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Тестування на проникнення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Розвідка, інвентаризація, експлуатація, звіт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Поєднання окремо некритичних слабкостей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Логічні дефекти без синтаксичного образу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Правила залучення: межі, час, техніки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ISO/IEC 29147: програма розкриття вразливостей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Ст. 361–363-1 КК України — щодо чужих систем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SCA: чотири кроки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Software Composition Analysis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Склад: оголошення та файли фіксації версій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Нормалізація: екосистема — назва — версія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Збіги: реєстр CVE та бюлетені екосистем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Пріоритезація за CVSS із поправкою на контекст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Походження артефактів — лекція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Транзитивність складу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N = d · (b^L - 1) / (b - 1)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d = 25, b = 2, L = 4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N = 375 компонентів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Понад 93 % складу розробник не обирав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Два рядки оголошення → десяток пакетів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Ручний облік складу неможливий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Межі аналізу складу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Зіставлення за версією, а не за досяжністю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Залежності для складання додають шуму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Надто широкі діапазони уражених версій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FN: копіювання коду, перейменоване відгалуження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FN: двійковий артефакт, бюлетеня ще немає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Порожній звіт ≠ захищений склад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Аналіз досяжності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Шлях за графом викликів до вразливого символу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Динамічне диспетчерування й рефлексія обмежують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Недосяжність знижує пріоритет, а не закриває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Мета: планове оновлення залежностей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Передумова оновлень — регресійні тести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Порівняння методів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Об'єкт: код, система, виконання, дерево, обробник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Фаза: кодування, приймання, тести, складання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Адреса в коді: SAST, IAST, стек фазера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FP: багато в SAST і SCA, майже немає у фазингу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Не виявляють різного, тому не заміщують одне одного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Модель загрози змінюється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Програма передана користувачеві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Зловмисник володіє середовищем виконання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Необмежений час, доступ до пам'яті процесу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Статично: дизасемблювання, декомпіляція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Динамічно: налагодження, зміна артефакта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Усе в артефакті вважають відомим порушникові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Обфускація: класи перетворень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Семантично еквівалентне перетворення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Компонування: імена, налагоджувальні дані — низька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Потоку керування: сплощення, непрозорі предикати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Даних: розщеплення змінних, кодування сталих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Превентивні: ламають відомі деобфускатори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Таксономія Коллберга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Непрозорий предикат і якість перетворення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(x * x + x) % 2 == 0 — істинний завжди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Гілка «інакше» не виконується ніколи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Граф зростає, поведінка не змінюється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T_пот(P) = E(T(P)) / E(P) − 1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Потужність, стійкість, вартість — конфліктні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Обфускують лише модулі з цінною логікою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Цілісність і антиналагодження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Хеш-сума власного сегмента коду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Одиночну перевірку знімає одна команда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Мережа взаємних перевірок, маскована реакція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Приєднання як налагоджувача до себе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Вимірювання часу короткої ділянки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Перевірки — у коді, який змінює зловмисник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Водяні знаки й принципова межа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Доведення авторства або джерела витоку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Статичний — у структурі, динамічний — у стані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Копіюванню не запобігає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Локальну перевірку ключа знімає один перехід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Захист створює вартість, а не неможливість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Секрет не вбудовують в артефакт користувача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29 /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Висновки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Спостережуваність розділяє методи, а не ранжує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Тріаж і базова лінія обов'язкові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Фазинг: покриття, обгортка, оракул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SCA: транзитивність і досяжність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Справжньою межею довіри лишається сервер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Лекція 15: DevSecOps і ланцюг постачання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14. Аналіз захищеності та захист програм від дослідження</dc:title>
  <dc:subject>Безпека програмного забезпечення</dc:subject>
  <dc:creator>Соколовський В. В.</dc:creator>
  <cp:keywords/>
  <dc:description/>
  <cp:lastModifiedBy>Соколовський В. В.</cp:lastModifiedBy>
  <cp:revision>1</cp:revision>
  <dcterms:created xsi:type="dcterms:W3CDTF">2026-10-07T07:16:13Z</dcterms:created>
  <dcterms:modified xsi:type="dcterms:W3CDTF">2026-10-07T07:16:13Z</dcterms:modified>
  <cp:category/>
</cp:coreProperties>
</file>