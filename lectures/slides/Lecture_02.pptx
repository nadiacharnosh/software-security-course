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2</a:t>
            </a:r>
          </a:p>
          <a:p>
            <a:r>
              <a:rPr sz="3400" b="1">
                <a:solidFill>
                  <a:srgbClr val="FFFFFF"/>
                </a:solidFill>
              </a:rPr>
              <a:t>Загрози, вразливості та модель порушника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Лекція 2. Загрози, вразливості та модель порушника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Безпека програмного забезпечення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4 курс, каф. ІПІ, ФІОТ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Продовження понятійної основи курсу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Підготовка до лекції 3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Від кого саме захищають систему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План лекції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2.1. Джерела загроз і канали витоку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2.2. Пасивні та активні вторгнення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2.3. Побудова моделі порушника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2.4. Таксономії: CWE, CVE, CVSS, CAPEC, ATT&amp;CK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Зв'язок із лекцією 1: розробник усуває вразливості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Джерела загроз за походженням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Природні — пожежа, повінь, гроза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Техногенні — відмова обладнання, живлення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Антропогенні ненавмисні — помилка, ключ у репозиторії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Антропогенні навмисні — НСД, зловмисний код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Джерело визначає доцільний контрзахід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Проти пожежі криптографія не допоможе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Внутрішні та зовнішні порушники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Критерій — довіра, не розташування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Інсайдер має обліковий запис або доступ до артефактів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Дії за формою не відрізняються від штатних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Виявлювальні механізми: журнали, аномалії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Запобіжні: розділення обов'язків, контроль двох осіб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Зловживання неможливе для однієї особи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Канали витоку інформації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Шлях до відомостей про актив без права на них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Побічний ефект штатної функціональності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Інтерфейси не за призначенням: надлишкові поля API, трасування стека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Метадані: довжини, коди станів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Побічні канали: час, пам'ять, кеш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Обхід механізму захисту не потрібен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Побічний канал у порівнянні міток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Оператор рівності зупиняється на першій розбіжності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Час відповіді видає довжину префікса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Мітку відновлюють побайтово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2^256^ → 32 × 256 = 8192 спроби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Контрзахід: hmac.compare_digest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Усуває залежність лише в одній точці коду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Поверхня атаки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Точки входу й виходу: API, оброблювачі подій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Канали: сокети, файли, міжпроцесова взаємодія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Недовірені елементи даних: середовище, конфігурація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Перелік складають для конкретної системи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Межа між недовіреним суб'єктом і системою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Міра поверхні атаки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S = Σ d(m)/e(m) + Σ d(c)/e(c) + Σ d(i)/e(i)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d — шкода, e — зусилля порушника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 оригіналі — трійка сум, не число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Скаляр — лише індикатор регресії версій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Важіль 1: вимкнути невживані функції й порти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Важіль 2: вимога автентифікації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Вторгнення: пасивні та активні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Вторгнення — дія задля реалізації загрози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Пасивне не змінює стану системи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Активне змінює дані, стан, доступність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Спотворення нормального потоку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Перехоплення, переривання, модифікація, фабрикація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Пасивні вторгнення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Перехоплення — читання вмісту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Аналіз трафіку — відомості з метаданих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Суб'єкт: будь-хто в середовищі передавання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Практично невиявні — протидія запобіжна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TLS не приховує адресу, розмір, час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Контрзахід — вирівнювання довжин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Активні вторгнення і контрзаходи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Модифікація → код автентифікації, підпис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Підміна → взаємна автентифікація, PKI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Повторне відтворення → nonce, мітка часу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Відмова в обслуговуванні → обмеження частоти й складності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Порушувані властивості: цілісність, автентичність, доступність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Повторне відтворення: уразливий варіант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Повідомлення пересилають без змін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Код автентифікації лишається коректним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Підтверджено авторство, але не свіжість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accept_unsafe перевіряє лише тег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Кожне повторення виконує операцію знову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Порівняння за сталий час від цього не рятує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Захист: одноразове число й мітка часу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Підпис від зв'язки: повідомлення, nonce, мітка часу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Крок 1 — перевірка коду автентифікації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Крок 2 — вікно 30 секунд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Крок 3 — nonce не траплявся раніше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Мітка часу обмежує вікно відтворення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Множина nonce закриває відтворення у вікні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Однозначне зв'язування полів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Префікс довжини перед повідомленням і nonce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Склейка роздільником дає збіг рядків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`pay|100` + `N1` = `pay` + `100|N1`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Перенесення частини повідомлення в nonce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Перевірку свіжості обійдено «новим» nonce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Потрібні синхронізація годинників і сховище nonce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Відмова в обслуговуванні: механізми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Вичерпання пропускної здатності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Відбиття з підробленою адресою, служби поверх UDP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Підсилення: DNS — десятки, NTP — сотні, memcached — понад 10^4^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Вичерпання станів: пул з'єднань, дескриптори, черга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Перші два механізми вичерпують ресурс кількістю запитів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Алгоритмічна складність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Вхід, дібраний на найгірший випадок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Регулярний вираз із вкладеною ітерацією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Колізійні ключі вироджують хеш-таблицю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Захист: довжина входу, таймаут, рандомізація хешування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Обмеження частоти не захищає: достатньо одного запиту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Модель порушника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Формалізований опис припущень про суб'єкта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N = ⟨M, Q, R, A, D⟩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M — мотивація, Q — кваліфікація, R — ресурси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 — рівень доступу, D — припустимі дії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Без моделі «система захищена» не перевіряється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Модель описує порушника, а не реалізацію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Мотивація, кваліфікація, ресурси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Цікавість вичерпується першою перешкодою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Фінансовий інтерес — доки зиск більший за витрати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Ідеологічна мотивація не вичерпується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Кваліфікація: готовий інструмент або нова вразливість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Ресурси: час, потужності, бюджет, вплив на постачальників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Підвищення вартості атаки діє не проти всіх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Рівень доступу та припустимі дії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A0 — публічний інтерфейс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A1 — користувач; A2 — привілейований користувач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A3 — розробник, адміністратор, код і конфігурація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A4 — фізичний доступ до обладнання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Шкала враховує градації НД ТЗІ 1.1-002-99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D записують у термінах спостережних дій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Типові профілі порушника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Випадковий користувач: цікавість, A1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Інсайдер: збагачення, A2–A3, вивантаження бази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Кіберзлочинна група: прибуток, A0–A1, автоматизація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Державний актор: розвідка, A0–A4, ланцюг постачання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Профілі не є взаємовиключними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Набір профілів і порядок побудови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Помилка — модель лише для найпотужнішого профілю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Крок 1: активи та межі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Крок 2: суб'єкти, що перетинають межі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Крок 3: п'ятірка для кожного суб'єкта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Крок 4: вимоги до системи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Крок 5: що лишається поза моделлю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Приклад: профіль «інсайдер»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M — збагачення: продаж бази контактів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Q — середня: запити та звітність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R — обліковий запис, знання бази, час без нагляду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 — A2: усі заявки через штатний інтерфейс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D — звіти, статуси, надсилання вмісту назовні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Вимоги: незмінюваний журнал, ліміт вивантаження, погоджувач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Межі моделі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Поза моделлю: адміністратор ОС і гіпервізора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Поза моделлю: фізичний доступ A4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Поза моделлю: компрометація посвідчувального центру, примус до ключів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Явні межі роблять твердження спростовним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Для державного актора вимоги зміщуються в процес (лекція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Таксономії: зрізи однієї задачі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CWE — тип дефекту, правила SAST і тріаж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CVE — вразливість у продукті, SCA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CVSS — серйозність, пріоритезація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CAPEC — шаблон атаки, моделювання загроз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ATT&amp;CK — поведінка порушника, правила виявлення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CWE і CVE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Рівні абстракції: Pillar → Class → Base → Variant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CWE-89 — нащадок CWE-74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Правило SAST — Base, вимога безпеки — Class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CVE: абревіатура, рік резервування, номер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Цикл: резервування CNA → виробник → публікація → збагачення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Один CWE — тисячі CVE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CVSS v4.0: групи метрик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Базові: AV, AC, AT, PR, UI, VC/VI/VA, SC/SI/SA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Метрики загрози: зрілість експлуатації 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Середовищні: CR/IR/AR і модифіковані базові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Додаткові інформативні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Оцінки: CVSS-B, CVSS-BT, CVSS-BE, CVSS-BTE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Замкнутої формули немає: EQ1–EQ6 і макровектор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Приклад розрахунку CVSS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`CVSS:4.0/AV:N/AC:L/AT:N/PR:N/UI:N/VC:H/VI:H/VA:H/SC:N/SI:N/SA:N`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Ін'єкція SQL у публічному вебінтерфейсі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Макровектор 000200 → CVSS-B 9,3, критичний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E:U і MAV:A знижують оцінку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Для планування беруть CVSS-BTE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CVSS вимірює вразливість, а не ризик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CAPEC і ATT&amp;CK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CAPEC: передумови, ресурси, кваліфікація порушника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Живить модель порушника й дерева атак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ATT&amp;CK Enterprise: 14 тактик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Тактики: розвідка, початковий доступ, закріплення, вплив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Техніки з ідентифікаторами: T1190, T1078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Основа правил виявлення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Ланцюг таксономій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CWE — тип дефекту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CVE — екземпляр у продукті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CVSS — серйозність екземпляра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CAPEC — спосіб експлуатації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ATT&amp;CK — місце дії в кампанії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Для розробника ланцюг читають справа наліво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Джерело загрози визначає клас контрзаходів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Канали витоку усувають у коді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Пасивні вторгнення — запобіжна протидія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Код автентифікації без nonce не дає свіжості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Модель порушника: п'ятірка плюс межі моделі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Лекція 3. Моделювання загроз програмної системи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2. Загрози, вразливості та модель порушника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