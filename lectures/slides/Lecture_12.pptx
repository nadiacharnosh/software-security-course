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00000" y="2000000"/>
            <a:ext cx="7700000" cy="2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8FC7CE"/>
                </a:solidFill>
              </a:rPr>
              <a:t>Лекція 12</a:t>
            </a:r>
          </a:p>
          <a:p>
            <a:r>
              <a:rPr sz="3400" b="1">
                <a:solidFill>
                  <a:srgbClr val="FFFFFF"/>
                </a:solidFill>
              </a:rPr>
              <a:t>Вразливості низького рівня та безпека пам'яті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00000" y="6050000"/>
            <a:ext cx="77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8FC7CE"/>
                </a:solidFill>
              </a:rPr>
              <a:t>Безпека програмного забезпечення · КПІ ім. Ігоря Сікорського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Вразливості низького рівня та безпека пам'яті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Лекція 12 курсу «Безпека ПЗ»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Лекція 11: стійкість математичної конструкції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006D77"/>
                </a:solidFill>
              </a:rPr>
              <a:t>▸  Дефект реалізації знецінює стійкість алгоритму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CWE-787 і CWE-416 — перша десятка переліку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Далі: OWASP Top 10, аналіз захищеності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1 / 29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План лекції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>
                <a:solidFill>
                  <a:srgbClr val="2B2B2B"/>
                </a:solidFill>
              </a:rPr>
              <a:t>•  12.1 Модель пам'яті та переповнення в стеку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2B2B2B"/>
                </a:solidFill>
              </a:rPr>
              <a:t>•  12.2 Купа, використання після звільнення, цілочисельні помилки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2B2B2B"/>
                </a:solidFill>
              </a:rPr>
              <a:t>•  12.3 Техніки експлуатації та контрзаходи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2B2B2B"/>
                </a:solidFill>
              </a:rPr>
              <a:t>•  12.4 Санітайзери та безпечні мови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2 / 29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Безпека пам'яті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 b="1">
                <a:solidFill>
                  <a:srgbClr val="006D77"/>
                </a:solidFill>
              </a:rPr>
              <a:t>▸  Звернення поза межами або поза часом життя об'єкта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Вихід за межі масиву чи блока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Звернення за застарілим вказівником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Спільна причина: припущення ≠ стан пам'яті</a:t>
            </a:r>
          </a:p>
          <a:p>
            <a:pPr>
              <a:spcAft>
                <a:spcPts val="1200"/>
              </a:spcAft>
            </a:pPr>
            <a:r>
              <a:rPr sz="1700" i="1">
                <a:solidFill>
                  <a:srgbClr val="006D77"/>
                </a:solidFill>
              </a:rPr>
              <a:t>Мова не визначає наслідків, середовище не перевіряє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3 / 29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Три властивості мов C і C++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Відсутність перевірки меж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Індексування = арифметика адрес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Ручне керування часом життя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Володіння не перевіряє ніхто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006D77"/>
                </a:solidFill>
              </a:rPr>
              <a:t>▸  Невизначена поведінка (undefined behavior)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4 / 29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Оптимізатор і невизначена поведінка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Знакове переповнення не визначене</a:t>
            </a:r>
          </a:p>
          <a:p>
            <a:pPr algn="ctr">
              <a:spcAft>
                <a:spcPts val="1200"/>
              </a:spcAft>
            </a:pPr>
            <a:r>
              <a:rPr sz="2000" b="1">
                <a:solidFill>
                  <a:srgbClr val="0B2A4A"/>
                </a:solidFill>
                <a:latin typeface="Courier New"/>
              </a:rPr>
              <a:t>len + 1 &gt; 0  →  len &gt;= 0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За len = INT_MAX перевірка пропускає вхід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006D77"/>
                </a:solidFill>
              </a:rPr>
              <a:t>▸  Перевірка існує в тексті, але не в коді</a:t>
            </a:r>
          </a:p>
          <a:p>
            <a:pPr>
              <a:spcAft>
                <a:spcPts val="1200"/>
              </a:spcAft>
            </a:pPr>
            <a:r>
              <a:rPr sz="1700" i="1">
                <a:solidFill>
                  <a:srgbClr val="006D77"/>
                </a:solidFill>
              </a:rPr>
              <a:t>Перевіряти до операції, а не після неї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5 / 29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Адресний простір процесу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Сегмент коду, сегменти даних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Купа (heap) — до старших адрес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Стек (stack) — до молодших адрес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Ділянки завантажених бібліотек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006D77"/>
                </a:solidFill>
              </a:rPr>
              <a:t>▸  Дані й адреси — в одному просторі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6 / 29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Кадр стека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Аргументи (cdecl); System V: шість у регістрах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Адреса повернення (return address)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Збережений вказівник кадру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Локальні змінні та масиви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006D77"/>
                </a:solidFill>
              </a:rPr>
              <a:t>▸  Буфер нижче, копіювання йде вгору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7 / 29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Відстань до адреси повернення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200"/>
              </a:spcAft>
            </a:pPr>
            <a:r>
              <a:rPr sz="2000" b="1">
                <a:solidFill>
                  <a:srgbClr val="0B2A4A"/>
                </a:solidFill>
                <a:latin typeface="Courier New"/>
              </a:rPr>
              <a:t>D = S_буф + P + S_fp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x86-64, char buf[64], P = 0, S_fp = 8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006D77"/>
                </a:solidFill>
              </a:rPr>
              <a:t>▸  D = 72: байти 73–80 — адреса повернення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strcpy досягає їх на 72 символах</a:t>
            </a:r>
          </a:p>
          <a:p>
            <a:pPr>
              <a:spcAft>
                <a:spcPts val="1200"/>
              </a:spcAft>
            </a:pPr>
            <a:r>
              <a:rPr sz="1700" i="1">
                <a:solidFill>
                  <a:srgbClr val="006D77"/>
                </a:solidFill>
              </a:rPr>
              <a:t>Без вказівника кадру D = 64; маркер додає свій розмір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8 / 29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Переповнення буфера в стеку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1">
                <a:solidFill>
                  <a:srgbClr val="006D77"/>
                </a:solidFill>
              </a:rPr>
              <a:t>▸  Запис за верхню межу локального масиву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Керування входом → керування потоком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strcpy: копіює до нульового завершувача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gets: розміру немає, вилучено зі стандарту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snprintf: розмір приймача й контроль усічення</a:t>
            </a:r>
          </a:p>
          <a:p>
            <a:pPr>
              <a:spcAft>
                <a:spcPts val="800"/>
              </a:spcAft>
            </a:pPr>
            <a:r>
              <a:rPr sz="1700" i="1">
                <a:solidFill>
                  <a:srgbClr val="006D77"/>
                </a:solidFill>
              </a:rPr>
              <a:t>Збільшення буфера дефекту не усуває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9 / 29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Переповнення в купі (CWE-122)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Заголовок із розміром і прапорцями перед блоком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Вільні блоки зв'язано в список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Запис за межу змінює поля зв'язків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006D77"/>
                </a:solidFill>
              </a:rPr>
              <a:t>▸  Класична техніка: запис за довільною адресою</a:t>
            </a:r>
          </a:p>
          <a:p>
            <a:pPr>
              <a:spcAft>
                <a:spcPts val="1200"/>
              </a:spcAft>
            </a:pPr>
            <a:r>
              <a:rPr sz="1700" i="1">
                <a:solidFill>
                  <a:srgbClr val="006D77"/>
                </a:solidFill>
              </a:rPr>
              <a:t>Метадані звіряють — мішенню стає сусідній об'єкт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10 / 29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Використання після звільнення (use after free, UAF), CWE-416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 b="1">
                <a:solidFill>
                  <a:srgbClr val="006D77"/>
                </a:solidFill>
              </a:rPr>
              <a:t>▸  Звернення за вказівником після кінця часу життя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Блок дістається іншому об'єктові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Керовані виділення підставляють дані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Вказівник на функцію або таблицю віртуальних функцій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Подвійне звільнення (CWE-415) руйнує списки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11 / 29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Розбір прикладу: session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Уразливо: free, потім виклик on_close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Блок перевиділено — адреса підставлена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Безпечно: використання строго до звільнення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006D77"/>
                </a:solidFill>
              </a:rPr>
              <a:t>▸  Вказівник знецінено одразу після free</a:t>
            </a:r>
          </a:p>
          <a:p>
            <a:pPr>
              <a:spcAft>
                <a:spcPts val="1200"/>
              </a:spcAft>
            </a:pPr>
            <a:r>
              <a:rPr sz="1700" i="1">
                <a:solidFill>
                  <a:srgbClr val="006D77"/>
                </a:solidFill>
              </a:rPr>
              <a:t>Інші копії вказівника лишаються небезпечними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12 / 29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Форматний рядок (CWE-134)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Дані користувача першим аргументом printf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%x, %p — вивід непереданих аргументів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%s — розіменування значення зі стека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006D77"/>
                </a:solidFill>
              </a:rPr>
              <a:t>▸  %n — запис за взятою зі стека адресою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Формат має бути сталим: printf("%s", user)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13 / 29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Цілочисельне переповнення (CWE-190)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200"/>
              </a:spcAft>
            </a:pPr>
            <a:r>
              <a:rPr sz="2000" b="1">
                <a:solidFill>
                  <a:srgbClr val="0B2A4A"/>
                </a:solidFill>
                <a:latin typeface="Courier New"/>
              </a:rPr>
              <a:t>r = (a · b) mod 2^N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32 біти, n = 2^30, n · sizeof(int) = 2^32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006D77"/>
                </a:solidFill>
              </a:rPr>
              <a:t>▸  r = 0: блок порожній, цикл пише 2^30 елементів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Перевірка після множення марна</a:t>
            </a:r>
          </a:p>
          <a:p>
            <a:pPr>
              <a:spcAft>
                <a:spcPts val="1200"/>
              </a:spcAft>
            </a:pPr>
            <a:r>
              <a:rPr sz="1700" i="1">
                <a:solidFill>
                  <a:srgbClr val="006D77"/>
                </a:solidFill>
              </a:rPr>
              <a:t>calloc виконує перевірку самостійно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14 / 29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Помилка знаку та усічення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Довжину перевірено в знаковій арифметиці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Від'ємне значення проходить перевірку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006D77"/>
                </a:solidFill>
              </a:rPr>
              <a:t>▸  memcpy тлумачить його як size_t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Усічення 64 → 32: старші біти втрачено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CWE-195, CWE-197; наслідок — CWE-787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15 / 29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Техніки експлуатації: межі викладу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>
                <a:solidFill>
                  <a:srgbClr val="2B2B2B"/>
                </a:solidFill>
              </a:rPr>
              <a:t>•  Мета — показати межі контрзаходів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2B2B2B"/>
                </a:solidFill>
              </a:rPr>
              <a:t>•  Лише власні системи, ізольоване середовище</a:t>
            </a:r>
          </a:p>
          <a:p>
            <a:pPr>
              <a:spcAft>
                <a:spcPts val="1200"/>
              </a:spcAft>
            </a:pPr>
            <a:r>
              <a:rPr sz="2000" b="1">
                <a:solidFill>
                  <a:srgbClr val="006D77"/>
                </a:solidFill>
              </a:rPr>
              <a:t>▸  Статті 361–363-1 КК України</a:t>
            </a:r>
          </a:p>
          <a:p>
            <a:pPr>
              <a:spcAft>
                <a:spcPts val="1200"/>
              </a:spcAft>
            </a:pPr>
            <a:r>
              <a:rPr sz="1900" i="1">
                <a:solidFill>
                  <a:srgbClr val="006D77"/>
                </a:solidFill>
              </a:rPr>
              <a:t>Несанкціоноване втручання — кримінальне правопорушення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16 / 29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Шелкод і заборона виконання даних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>
                <a:solidFill>
                  <a:srgbClr val="2B2B2B"/>
                </a:solidFill>
              </a:rPr>
              <a:t>•  Машинний код у вхідних даних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2B2B2B"/>
                </a:solidFill>
              </a:rPr>
              <a:t>•  Адресу повернення спрямовано в буфер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2B2B2B"/>
                </a:solidFill>
              </a:rPr>
              <a:t>•  DEP, апаратно біт NX: стек і купа не виконувані</a:t>
            </a:r>
          </a:p>
          <a:p>
            <a:pPr>
              <a:spcAft>
                <a:spcPts val="1200"/>
              </a:spcAft>
            </a:pPr>
            <a:r>
              <a:rPr sz="2000" b="1">
                <a:solidFill>
                  <a:srgbClr val="006D77"/>
                </a:solidFill>
              </a:rPr>
              <a:t>▸  Заборонено нові інструкції, не переходи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17 / 29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Повернення в бібліотеку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>
                <a:solidFill>
                  <a:srgbClr val="2B2B2B"/>
                </a:solidFill>
              </a:rPr>
              <a:t>•  Адреса повернення → бібліотечна функція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2B2B2B"/>
                </a:solidFill>
              </a:rPr>
              <a:t>•  Аргументи підготовано в стеку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2B2B2B"/>
                </a:solidFill>
              </a:rPr>
              <a:t>•  Нових інструкцій не з'являється</a:t>
            </a:r>
          </a:p>
          <a:p>
            <a:pPr>
              <a:spcAft>
                <a:spcPts val="1200"/>
              </a:spcAft>
            </a:pPr>
            <a:r>
              <a:rPr sz="2000" b="1">
                <a:solidFill>
                  <a:srgbClr val="006D77"/>
                </a:solidFill>
              </a:rPr>
              <a:t>▸  Відповідь: ASLR — адреси непередбачувані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18 / 29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Програмування зворотними викликами (ROP)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Гаджет: інструкції, що завершуються поверненням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Ланцюг адрес гаджетів у стеку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006D77"/>
                </a:solidFill>
              </a:rPr>
              <a:t>▸  Стек виконує роль лічильника команд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Гаджети великої бібліотеки — довільне обчислення</a:t>
            </a:r>
          </a:p>
          <a:p>
            <a:pPr>
              <a:spcAft>
                <a:spcPts val="1200"/>
              </a:spcAft>
            </a:pPr>
            <a:r>
              <a:rPr sz="1700" i="1">
                <a:solidFill>
                  <a:srgbClr val="006D77"/>
                </a:solidFill>
              </a:rPr>
              <a:t>Ознак упровадженого коду немає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19 / 29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Ентропія ASLR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Перезапуск із новою рандомізацією: E[T] = 2^k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65 536 спроб для k = 16; сліди в журналі аварій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Форк-сервер: розкладка незмінна</a:t>
            </a:r>
          </a:p>
          <a:p>
            <a:pPr algn="ctr">
              <a:spcAft>
                <a:spcPts val="800"/>
              </a:spcAft>
            </a:pPr>
            <a:r>
              <a:rPr sz="2000" b="1">
                <a:solidFill>
                  <a:srgbClr val="0B2A4A"/>
                </a:solidFill>
                <a:latin typeface="Courier New"/>
              </a:rPr>
              <a:t>E[T] = (2^k + 1) / 2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006D77"/>
                </a:solidFill>
              </a:rPr>
              <a:t>▸  k = 16 → близько 32 768 спроб</a:t>
            </a:r>
          </a:p>
          <a:p>
            <a:pPr>
              <a:spcAft>
                <a:spcPts val="800"/>
              </a:spcAft>
            </a:pPr>
            <a:r>
              <a:rPr sz="1700" i="1">
                <a:solidFill>
                  <a:srgbClr val="006D77"/>
                </a:solidFill>
              </a:rPr>
              <a:t>Витік однієї адреси руйнує захист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20 / 29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Контрзаходи збірки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Маркер стека: звіряння перед поверненням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Не захищає змінних до маркера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PIE: рандомізація коду програми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RELRO: GOT лише для читання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006D77"/>
                </a:solidFill>
              </a:rPr>
              <a:t>▸  _FORTIFY_SOURCE: рівні 1–2 — розмір з компіляції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Рівень 3: розмір під час виконання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21 / 29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Контроль цілісності потоку керування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Граф припустимих переходів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Перевірка непрямих викликів і повернень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Спрямовано проти ROP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006D77"/>
                </a:solidFill>
              </a:rPr>
              <a:t>▸  Точність обмежує статичний аналіз</a:t>
            </a:r>
          </a:p>
          <a:p>
            <a:pPr>
              <a:spcAft>
                <a:spcPts val="1200"/>
              </a:spcAft>
            </a:pPr>
            <a:r>
              <a:rPr sz="1700" i="1">
                <a:solidFill>
                  <a:srgbClr val="006D77"/>
                </a:solidFill>
              </a:rPr>
              <a:t>Атакам на дані CFI не запобігає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22 / 29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Дефекти й межі контрзаходів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Стек: маркер, _FORTIFY_SOURCE / змінні до маркера, змінний розмір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Купа: цілісність метаданих / сусідній об'єкт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UAF: знецінення, карантин / помилки володіння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CWE-190: перевірка, UBSan / помилки в перевірках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006D77"/>
                </a:solidFill>
              </a:rPr>
              <a:t>▸  Прочерк у CWE — спосіб використання, шаблони CAPEC</a:t>
            </a:r>
          </a:p>
          <a:p>
            <a:pPr>
              <a:spcAft>
                <a:spcPts val="800"/>
              </a:spcAft>
            </a:pPr>
            <a:r>
              <a:rPr sz="1700" i="1">
                <a:solidFill>
                  <a:srgbClr val="006D77"/>
                </a:solidFill>
              </a:rPr>
              <a:t>Вартість атаки зростає, дефект лишається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23 / 29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Санітайзери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 b="1">
                <a:solidFill>
                  <a:srgbClr val="006D77"/>
                </a:solidFill>
              </a:rPr>
              <a:t>▸  Перевірки, додані під час компіляції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2B2B2B"/>
                </a:solidFill>
              </a:rPr>
              <a:t>•  Помилку виявлено в момент виникнення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2B2B2B"/>
                </a:solidFill>
              </a:rPr>
              <a:t>•  Відмінність від контрзаходів середовища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2B2B2B"/>
                </a:solidFill>
              </a:rPr>
              <a:t>•  Місце — розробка й тестування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24 / 29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AddressSanitizer (ASan)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Тіньова пам'ять: байт на вісім байтів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Червоні зони навколо об'єктів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Карантин звільнених блоків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006D77"/>
                </a:solidFill>
              </a:rPr>
              <a:t>▸  Кожне звернення інструментовано</a:t>
            </a:r>
          </a:p>
          <a:p>
            <a:pPr>
              <a:spcAft>
                <a:spcPts val="1200"/>
              </a:spcAft>
            </a:pPr>
            <a:r>
              <a:rPr sz="1700" i="1">
                <a:solidFill>
                  <a:srgbClr val="006D77"/>
                </a:solidFill>
              </a:rPr>
              <a:t>Вихід за межі й UAF виявлено негайно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25 / 29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Порівняння санітайзерів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ASan: межі та UAF; уповільнення вдвічі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ASan не бачить полів однієї структури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UBSan: переповнення, зсуви, вирівнювання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MemorySanitizer: читання неініціалізованої пам'яті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006D77"/>
                </a:solidFill>
              </a:rPr>
              <a:t>▸  Лише реально пройдений шлях виконання</a:t>
            </a:r>
          </a:p>
          <a:p>
            <a:pPr>
              <a:spcAft>
                <a:spcPts val="800"/>
              </a:spcAft>
            </a:pPr>
            <a:r>
              <a:rPr sz="1700" i="1">
                <a:solidFill>
                  <a:srgbClr val="006D77"/>
                </a:solidFill>
              </a:rPr>
              <a:t>Місце — конвеєр CI, не промислове середовище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26 / 29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Rust: володіння і запозичення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Гарантії без збирача сміття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Рівно один власник; передавання переміщує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Одне змінне або кілька незмінних запозичень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Запозичення не переживає власника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006D77"/>
                </a:solidFill>
              </a:rPr>
              <a:t>▸  UAF, подвійне звільнення, гонки — помилка компіляції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27 / 29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Межі гарантій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Збирання сміття: Java, Go, C#, Python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Перевірка меж — виняток, не перехоплення керування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unsafe і FFI вимикають гарантії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Логічні дефекти лишаються (лекція 13)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006D77"/>
                </a:solidFill>
              </a:rPr>
              <a:t>▸  Нові компоненти; першими — розбір недовіреного входу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28 / 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Висновки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Межі, час життя, невизначена поведінка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Геометрія кадру визначає небезпеку переповнення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Контрзахід усуває спосіб, а не дефект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DEP → return-to-libc, ASLR → ROP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006D77"/>
                </a:solidFill>
              </a:rPr>
              <a:t>▸  Санітайзери тактичні, безпечні мови стратегічні</a:t>
            </a:r>
          </a:p>
          <a:p>
            <a:pPr>
              <a:spcAft>
                <a:spcPts val="800"/>
              </a:spcAft>
            </a:pPr>
            <a:r>
              <a:rPr sz="1700" i="1">
                <a:solidFill>
                  <a:srgbClr val="006D77"/>
                </a:solidFill>
              </a:rPr>
              <a:t>Далі: лекція 13, OWASP Top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29 / 29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Лекція 12. Вразливості низького рівня та безпека пам'яті</dc:title>
  <dc:subject>Безпека програмного забезпечення</dc:subject>
  <dc:creator>Соколовський В. В.</dc:creator>
  <cp:keywords/>
  <dc:description/>
  <cp:lastModifiedBy>Соколовський В. В.</cp:lastModifiedBy>
  <cp:revision>1</cp:revision>
  <dcterms:created xsi:type="dcterms:W3CDTF">2026-10-07T07:16:13Z</dcterms:created>
  <dcterms:modified xsi:type="dcterms:W3CDTF">2026-10-07T07:16:13Z</dcterms:modified>
  <cp:category/>
</cp:coreProperties>
</file>