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2000000"/>
            <a:ext cx="77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FC7CE"/>
                </a:solidFill>
              </a:rPr>
              <a:t>Лекція 15</a:t>
            </a:r>
          </a:p>
          <a:p>
            <a:r>
              <a:rPr sz="3400" b="1">
                <a:solidFill>
                  <a:srgbClr val="FFFFFF"/>
                </a:solidFill>
              </a:rPr>
              <a:t>DevSecOps та безпека ланцюга постачання програмного забезпечення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6050000"/>
            <a:ext cx="7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FC7CE"/>
                </a:solidFill>
              </a:rPr>
              <a:t>Безпека програмного забезпечення · КПІ ім. Ігоря Сікорського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DevSecOps та безпека ланцюга постачання ПЗ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Лекція 15. Безпека програмного забезпечення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Лекція 14: методи аналізу захищеності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Разова перевірка застаріває з першим злиттям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Предмет лекції — процес, а не нові методи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Завершальна лекція курсу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План лекції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15.1. Контроль захищеності в конвеєрі CI/CD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15.2. Безпека ланцюга постачання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15.3. Журналювання, моніторинг, реагування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15.4. Підсумки курсу та подальші напрями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Перерва — після другої частини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DevSecOps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Відповідальність несе вся команда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Перевірки автоматичні на кожній зміні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Запускає конвеєр, а не людина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Результат — до злиття змін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Знахідки — команді, правила — службі безпеки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Операційна форма зсуву уліво (лекція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Розміщення перевірок у стадіях конвеєра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Коміт: сканування секретів, секунди, блокує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Злиття: SAST за змінами, хвилини, блокує критичні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Складання: SCA, SBOM, підпис, блокує критичні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Тестове середовище: DAST, образ, попереджає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Періодично: повний SAST, фазинг, створює задачу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Місце визначає тривалість, а не суворість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4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Критерій проходження (quality gate)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Умови, за невиконання яких складання спиняється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Блокування на всьому — процедура винятків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Самі попередження — накопичуються тисячами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Поступове посилення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Базова лінія (лекція 14) поза блокуванням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Блокують нові знахідки високої критичності за CVSS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5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Конвеєр із вбудованими перевірками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permissions: contents: read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uses: actions/checkout@8f4b7c3e2a19…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gitleaks · semgrep · cyclonedx-py   # блокують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zap-baseline.py -t …   # continue-on-error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Блокувальні кроки й попереджувальні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Дію зафіксовано за повним хешем коміту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6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Конвеєр як мета атаки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Зосереджує читання коду, секрети, розгортання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Стороння дія виконується з правами завдання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Рухома мітка = згода на майбутній вміст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Власний виконавець: кеш і дані попереднього завдання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Токен на запис дозволяє змінити код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Захист гілок — контроль цілісності репозиторію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7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Керування секретами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Сховище замість файлів репозиторію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Короткочасні облікові дані замість ключів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Сканування історії репозиторію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Реакція на витік — відкликання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Видалення коміта стану не змінює: копії, кеші, дзеркала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8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Секрет у конвеєрі: два варіанти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ВРАЗЛИВО: ./deploy.sh --token ${{ secrets.… }} --verbose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Аргумент видно в переліку процесів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Докладний режим виводить його до журналу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БЕЗПЕЧНО: permissions: id-token: write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Короткочасні дані за ідентичністю завдання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Маскування в журналі — евристика, base64 її оминає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9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Артефакт складання: образ і середовище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Мінімальний образ: без інтерпретатора й менеджера пакетів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Менша поверхня атаки (лекція 2)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Незмінність: дайджест, а не мітка latest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Секрет із проміжного шару лишається в образі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IaC: секрети у файлі стану, дрейф конфігурації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Політики як код — до застосування маніфестів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10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Ланцюг постачання ПЗ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Люди, репозиторії, компоненти, інструменти, канали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Уражають те, чому продукт довіряє за конструкцією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Одна дія зачіпає всіх споживачів компонента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Масштаб задає місце в дереві залежностей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Споживач не робить нічого помилкового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11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Класи атак на ланцюг постачання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Компрометація супровідника: MFA, підпис, рецензування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Підміна за схожим іменем: дзеркало дозволених пакетів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Плутанина залежностей: єдиний внутрішній індекс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Підміна артефакту: хеш-сума й перевірка підпису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Іменування: доступ до інфраструктури не потрібен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12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Фіксація версій і хеш-сум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ВРАЗЛИВО: --extra-index-url …  internal-billing, requests&gt;=2.0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Опитано обидва індекси, взято вищу версію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БЕЗПЕЧНО: --require-hashes  internal-billing==3.4.1 --hash=sha256:9f2b41ca…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Рішення переходить у файл фіксації, який рецензують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Хеш-сума незалежна від реєстру й дзеркала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Фіксація робить склад контрольованим, а не безпечним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13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Специфікація складу (SBOM)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Перелік компонентів: назва, версія, ліцензія, хеш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CycloneDX — безпека, SPDX — ліцензії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Формують під час складання, зберігають з артефактом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{"bomFormat":"CycloneDX","specVersion":"1.5","components":[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{"type":"library","name":"requests","version":"2.32.3","hashes":[…]}]}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Запит до бази замість перегляду сервісів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14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Трудомісткість ідентифікації компонента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T~ідент~ = N · (t~скл~ + t~перег~)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N — сервіси, t~скл~ — перескладання, t~перег~ — перегляд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N = 40, t~скл~ = 0,5 год, t~перег~ = 1,5 год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T~ідент~ = 80 год ≈ два робочі тижні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 наявності SBOM — хвилини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Величини умовні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15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Підпис артефакта і прозорий журнал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Підпис засвідчує походження й незмінність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Sigstore: короткочасний сертифікат за ідентичністю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Немає довготривалого приватного ключа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Прозорий журнал: лише додавання, дерево Меркла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Компактний доказ включення запису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Підпис стає невитираним і спостережуваним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16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SLSA: рівні гарантій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Нижчі: автоматизоване складання з походженням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Походження — джерело, процес, входи артефакта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Вищі: ізольоване складання, непідробне походження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Рівень описує процес, а не продукт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Підписаний артефакт може містити ін'єкцію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17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Журналювання в розподіленій системі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Наскрізний ідентифікатор запиту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Зберігання поза середовищем, яке описують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Події конвеєра разом із подіями застосунку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Компрометація вузла не знищує доказ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Без них не встановити, коли вразлива версія потрапила в експлуатацію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18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Моніторинг і виявлення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Відхилення від базової лінії поведінки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Зіставлення з техніками порушника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Сигнал без процедури реагування контролем не є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Правило додають разом із процедурою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Конвеєр — теж джерело подій безпеки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19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Цикл реагування на інцидент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Підготовка → план реагування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Виявлення й аналіз → хронологія подій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Стримування, усунення, відновлення → записи про зміни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Висновки → звіт і план дій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NIST SP 800-61 Rev. 2; у Rev. 3 — через функції CSF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20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Дві типові помилки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Негайне перевстановлення знищує сліди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Спершу образ пам'яті й копія журналів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Потім ізоляція вузла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Причина лишається в коді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Фаза висновків обов'язкова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Без зміни процесу інцидент повториться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21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Вікно експозиції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T~експ~ = T~вияв~ + T~аналіз~ + T~усун~ + T~розгорт~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72 + 8 + 4 + 24 = 108 год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Дві третини — час виявлення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Скорочення виявлення дає більший ефект за латку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Автоматизоване розгортання: доби → хвилини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Величини умовні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22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Відповідальне розкриття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Канал приймання: security.txt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Підтвердження отримання в оголошений строк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Узгоджені строки оприлюднення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Ідентифікатор CVE через CNA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Бюлетень з ураженими версіями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Мета — синхронізувати дії, а не приховати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23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Наскрізна логіка курсу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Розділ 1: поняття, модель порушника, CWE, CVE, CVSS, STRIDE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Розділ 2: процес — ЖЦ і принципи проєктування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Розділи 3–4: розмежування доступу, автентифікація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Розділ 5: криптографічні примітиви, підпис, PKI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Розділ 6: вразливості реалізації, OWASP Top 10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Розділ 7: верифікація та експлуатація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24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Зворотний зв'язок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Модель загроз задає вимоги до механізмів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Інциденти повертаються як нові сценарії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Верифікація уточнює вразливості й процес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Зворотний зв'язок відрізняє процес від набору заходів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Без нього заходи старіють разом із системою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25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Поза межами курсу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Мережева безпека: IPsec, захищені мережі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Криптоаналіз: доказова стійкість, вибір параметрів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Вбудовані системи: побічні канали, довірене завантаження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Системи ШІ: отруєння даних, ін'єкція в запит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Криміналістика: збирання цифрових доказів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Межу проведено за предметом, не за складністю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26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Орієнтири та критерій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ASVS — контрольний список вимог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CWE Top 25 — карта класів дефектів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Обидва оновлюють щороку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Актив, загроза, межа, спосіб перевірки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Рішення без чотирьох складників — припущення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27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Висновки до теми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DevSecOps змінює момент і частоту перевірок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Критерій проходження — поступове посилення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Конвеєр зосереджує права: мета атаки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Ланцюг постачання уражає довіру за конструкцією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Вікно експозиції визначає час виявлення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28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Самостійне опрацювання та джерела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SPDX і його співвіднесення з CycloneDX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Політики допуску в оркестраторі контейнерів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NIST SSDF і рівні SLSA</a:t>
            </a:r>
          </a:p>
          <a:p>
            <a:pPr>
              <a:spcAft>
                <a:spcPts val="1200"/>
              </a:spcAft>
            </a:pPr>
            <a:r>
              <a:rPr sz="1900" i="1">
                <a:solidFill>
                  <a:srgbClr val="006D77"/>
                </a:solidFill>
              </a:rPr>
              <a:t>NIST SP 800-61 Rev. 2, SP 800-190, ISO/IEC 29147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29 /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Підготовка до екзамену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Матеріал усіх 15 лекцій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Опора — наскрізна логіка курсу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Терміни, механізм дії, межі застосовності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Числові приклади відтворити самостійно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Контрольні запитання й тести конспекту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15. DevSecOps та безпека ланцюга постачання програмного забезпечення</dc:title>
  <dc:subject>Безпека програмного забезпечення</dc:subject>
  <dc:creator>Соколовський В. В.</dc:creator>
  <cp:keywords/>
  <dc:description/>
  <cp:lastModifiedBy>Соколовський В. В.</cp:lastModifiedBy>
  <cp:revision>1</cp:revision>
  <dcterms:created xsi:type="dcterms:W3CDTF">2026-10-07T07:16:13Z</dcterms:created>
  <dcterms:modified xsi:type="dcterms:W3CDTF">2026-10-07T07:16:13Z</dcterms:modified>
  <cp:category/>
</cp:coreProperties>
</file>