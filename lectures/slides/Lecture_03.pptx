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2000000"/>
            <a:ext cx="77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FC7CE"/>
                </a:solidFill>
              </a:rPr>
              <a:t>Лекція 3</a:t>
            </a:r>
          </a:p>
          <a:p>
            <a:r>
              <a:rPr sz="3400" b="1">
                <a:solidFill>
                  <a:srgbClr val="FFFFFF"/>
                </a:solidFill>
              </a:rPr>
              <a:t>Моделювання загроз програмної системи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6050000"/>
            <a:ext cx="7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FC7CE"/>
                </a:solidFill>
              </a:rPr>
              <a:t>Безпека програмного забезпечення · КПІ ім. Ігоря Сікорського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Лекція 3. Моделювання загроз програмної системи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Безпека програмного забезпечення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4 курс, кафедра ІПІ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Від опису загроз — до аналізу проєкту</a:t>
            </a:r>
          </a:p>
          <a:p>
            <a:pPr>
              <a:spcAft>
                <a:spcPts val="1200"/>
              </a:spcAft>
            </a:pPr>
            <a:r>
              <a:rPr sz="1900" i="1">
                <a:solidFill>
                  <a:srgbClr val="006D77"/>
                </a:solidFill>
              </a:rPr>
              <a:t>Наскрізний приклад: система обліку заявок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Що маємо після лекції 2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Джерела загроз, канали витоку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Пасивні й активні вторгнення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Модель порушника: 5 складників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CWE, CVE, CVSS, CAPEC, ATT&amp;CK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CVSS оцінює вразливість, а не ризик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Таксономії описують дефекти безвідносно до системи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План лекції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3.1. Місце моделювання у процесі розробки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3.2. Діаграми потоків даних і межі довіри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3.3. STRIDE і дерева атак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3.4. Ранжування ризиків і документування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Усі приклади — одна система заявок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Моделювання загроз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Систематичний аналіз проєкту системи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Які атаки можливі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Рішення щодо кожної загрози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Перелік без рішень — незавершений результат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Рішення без переліку — необґрунтовані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«Систематичний» = методика з критерієм повноти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4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Проєкт, а не реалізація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Виявляє архітектурні дефекти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Немає автентифікації на внутрішньому інтерфейсі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Роль із надлишковими правами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Помилок кодування не виявляє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Конкатенація замість параметра — поза моделлю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Доповнює аналіз коду (лекція 14), не замінює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5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Чотири питання процесу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Що ми будуємо → DFD із межами довіри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Що може піти не так → перелік загроз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Що ми з цим робимо → реєстр ризиків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Чи добре ми впоралися → перевірка, задачі, тести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Четверте питання перевіряє сам аналіз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Це цикл, а не разовий перелік дій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6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Коли моделювати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Перший цикл: є ескіз, коду немає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Зміна проєкту коштує години обговорення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Далі — живий документ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Тригери: нова інтеграція, клас даних, роль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Винесення компонента в сервіс, інцидент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7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Хто і як виконує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Команда розробки, не зовнішній аудитор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4–8 осіб, 60–90 хвилин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Вхід: архітектура, дані, ролі, інтеграції, припущення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Фахівець із безпеки модерує, а не постачає перелік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Завершено: усі елементи, рішення, відповідальні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Практики входять до Microsoft SDL, OWASP SAMM, NIST SSDF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8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Модель системи: дві вимоги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Повна настільки, щоб видно загрози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Проста настільки, щоб побудувати за півгодини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Діаграма потоків даних (DFD)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Атаки = читання, підміна, блокування даних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Рух даних показує й місця втручання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9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Нотація DFD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Зовнішня сутність (прямокутник) — поведінку не гарантовано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Процес (коло) — усі 6 категорій STRIDE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Сховище (дві лінії) — логіки не має, себе не захищає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Потік (стрілка) — об'єкт перехоплення й підміни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Межа довіри (пунктир) — концентрує більшість загроз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10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Правила побудови й рівні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Кожен процес: вхід і вихід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Сховище → сховище лише через процес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Потік підписати двічі: дані й протокол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DFD-0 → DFD-1 (зазвичай достатньо) → DFD-2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Деталізують, доки з'являються нові межі довіри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Пропущений елемент — пропущені гіпотези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11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Межа довіри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Лінія між областями різної довіри або принципалами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Принципал — від чийого імені діє система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Хто здатний змінити дані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Кому доводиться вірити на слово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Типові: браузер/сервер, застосунок/база, ролі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Дані перевіряють на боці приймача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12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Приклад: система обліку заявок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E1 браузер, E2 поштовий шлюз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P1 автентифікація й сесії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P2 керування заявками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P3 обробка черги сповіщень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D1 заявки, D2 вкладення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2 сутності, 3 процеси, 2 сховища, 11 потоків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13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Межі довіри прикладу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TB1 — браузер і процеси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TB2 — процеси і сховища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TB3 — P3 і поштовий шлюз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TB4 — логічна: користувач і оператор усередині P2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TB4 не збігається з фізичною межею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14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STRIDE: категорії й властивості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S — підміна суб'єкта / автентичність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T — спотворення / цілісність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R — заперечення дій / невідмовність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I — розкриття / конфіденційність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D — відмова в обслуговуванні / доступність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E — підвищення привілеїв / авторизація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15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STRIDE-per-element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Зовнішня сутність: S, R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Зовнішня сутність стану не має — спотворити не можна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Потік даних: T, I, 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Сховище: T, R, I, 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Процес: усі шість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R для сховища — передусім журнали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16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Обсяг аналізу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N = 2 × nзс + 6 × nпр + 4 × nсх + 3 × nпт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Коефіцієнт 4 — спрощення в бік песимізму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Приклад: 4 + 18 + 8 + 33 = 63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Менша діаграма: 4 + 12 + 4 + 18 = 38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Це гіпотези, а не загрози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Число робить видимим пропуск елемента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17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STRIDE-per-interaction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Одиниця: джерело — потік — приймач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E1 → P2, S: викрадений ідентифікатор сесії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Контрзахід: Secure, HttpOnly, SameSite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P2, E: чужа заявка за ідентифікатором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P3, D: нескінченна черга сповіщень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Точність проти обсягу роботи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18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Уразливий варіант get_ticket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WHERE id = %s AND owner_id = %s ← user_id із запиту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Власника взято з параметра браузера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Параметр перетнув межу TB1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Сервер вірить твердженню клієнта про себе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Запит параметризований, ін'єкції немає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Дефект у джерелі даних про принципала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19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Безпечний варіант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Принципала визначає сервер за cookie sid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Немає сесії → Unauthorized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Заявку беруть лише за її ідентифікатором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may_read перевіряє право → Forbidden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Повне посередництво (лекція 5)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Не захищає від викрадення сесії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20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Дерева атак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Корінь — мета порушника, листки — дії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Вузол АБО: достатньо одного нащадка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Вузол І: потрібні всі нащадки</a:t>
            </a:r>
          </a:p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C АБО (v) = min C(ui)</a:t>
            </a:r>
          </a:p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C І (v) = Σ C(ui)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21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Приклад: чужий вміст заявки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Нащадки кореня: 20, 2, 12, 100 людино-годин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100 = 40 + 60 (вузол І, запис оператора)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min(20, 2, 12, 100) = 2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Захищеність визначає найдешевший шлях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Посилення другого фактора вартості не змінює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22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Сценарії зловживання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STRIDE спирається на структуру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Зловживання дозволеною логікою лишається поза нею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Діаграми прецедентів з актором-порушником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Зв'язки «загрожує» і «пом'якшує»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Заявки з неіснуючих адрес → ліміт розсилання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Породжує вимоги: підтвердження адреси, обмеження частоти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23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DREAD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R DREAD = (SD + SR + SE + SA + SDi) / 5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Шкода, відтворюваність, легкість експлуатації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Кількість зачеплених користувачів, помітність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Кожен показник за шкалою 1–10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1,0–3,9 низький; 4,0–6,4 середній; 6,5–7,9 високий; 8,0–10,0 критичний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24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DREAD: чому від неї відмовилися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Експерт 1: 8, 10, 9, 7, 8 → 42 / 5 = 8,4 критичний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Експерт 2: 6, 8, 7, 5, 6 → 32 / 5 = 6,4 середній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Розбіжність 2 бали → зсув на дві категорії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Шкали без операційних дефініцій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Усереднення приховує крайні оцінки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25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CVSS на етапі проєктування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Базові метрики мають операційні дефініції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Створювалася для випущеного продукту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Частину метрик оцінюють гіпотетично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CVSS:4.0/AV:N/AC:L/AT:N/PR:L/UI:N/VC:H/VI:N/VA:N/SC:N/SI:N/SA:N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Фіксують песимістичні оцінки й сам вектор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Вектор показує припущення, бал — ні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26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Матриця ризику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R = P · I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P — ймовірність, I — вплив, шкали 1–5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1–4 прийнятний, 5–11 помірний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12–19 високий, 20–25 неприпустимий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Приклад: P = 4, I = 4 → R = 16, усунути до випуску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Шкали порядкові: упорядкування, не вимірювання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27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Реєстр ризиків: чотири рішення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Усунути — R-02, R = 12, поле вилучено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Зменшити — R-01, R = 16, перевірка прав, автотест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Передати — R-03, R = 10, договір і страхування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Прийняти — R-04, R = 6, підпис і дата перегляду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Зменшення лишає залишковий ризик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Передати можна фінансові наслідки, не відповідальність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28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Документ моделі загроз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Опис системи та припущення про середовище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Діаграми, таблиця STRIDE, реєстр, історія переглядів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Простежуваність: рішення → задача → тест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Ознаки неякісної моделі: немає категорії R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Усі ризики низькі; «перевіряти вхідні дані»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Зовнішня перевірка: OWASP Top 10 і ASVS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29 /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Висновки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Проєкт, а не реалізація: архітектурні дефекти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Четверте питання перевіряє сам аналіз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Дані через межу — перевірка на боці приймача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Найдешевший шлях визначає захищеність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Продукт — реєстр ризиків із простежуваністю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Лекція 4. Захищений життєвий цикл розробки ПЗ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Лекція 3. Моделювання загроз програмної системи</dc:title>
  <dc:subject>Безпека програмного забезпечення</dc:subject>
  <dc:creator>Соколовський В. В.</dc:creator>
  <cp:keywords/>
  <dc:description/>
  <cp:lastModifiedBy>Соколовський В. В.</cp:lastModifiedBy>
  <cp:revision>1</cp:revision>
  <dcterms:created xsi:type="dcterms:W3CDTF">2026-10-07T07:16:13Z</dcterms:created>
  <dcterms:modified xsi:type="dcterms:W3CDTF">2026-10-07T07:16:13Z</dcterms:modified>
  <cp:category/>
</cp:coreProperties>
</file>