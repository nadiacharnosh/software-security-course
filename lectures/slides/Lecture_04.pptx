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2000000"/>
            <a:ext cx="77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FC7CE"/>
                </a:solidFill>
              </a:rPr>
              <a:t>Лекція 4</a:t>
            </a:r>
          </a:p>
          <a:p>
            <a:r>
              <a:rPr sz="3400" b="1">
                <a:solidFill>
                  <a:srgbClr val="FFFFFF"/>
                </a:solidFill>
              </a:rPr>
              <a:t>Захищений життєвий цикл розробки програмного забезпечення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6050000"/>
            <a:ext cx="7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FC7CE"/>
                </a:solidFill>
              </a:rPr>
              <a:t>Безпека програмного забезпечення · КПІ ім. Ігоря Сікорського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Захищений життєвий цикл розробки ПЗ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Лекція 4 курсу «Безпека програмного забезпечення»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Лекція 3: модель загроз, реєстр ризиків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Рішення «зменшити» → задача → тест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Сьогодні: процес, що це гарантує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Моделювання загроз входить до SDL, SAMM, SSDF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План лекції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4.1. Захищений життєвий цикл і його практики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4.2. Еталонні моделі: SDL, SSDF, SAMM, BSIMM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4.3. Вимоги безпеки до продукту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4.4. Ролі, метрики, зрілість процесу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«Зламати й полатати»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Тест на проникнення перед випуском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Причина 1: хиби проєктування, не коду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Немає власника, довіра клієнту, спільний секрет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Перепроєктування наприкінці — без ресурсу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Причина 2: перевірка обмежена часом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Немає знахідок ≠ немає вразливостей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Економіка і зсув уліво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Причина 3: вартість зростає показниково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Перевірка на фазу раніше окупається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Навіть за 1 виявленого дефекту з 10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Зсув уліво: ранні фази + автоматизація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Перевірка на кожній зміні коду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4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SSDLC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Secure software development life cycle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 окрема методологія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 замінює каскадного чи ітеративного процесу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Набір практик і контрольних точок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Перехід далі — лише за критеріями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Критерії — заздалегідь, виконання — перевіряється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5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Практики фаз: навчання — реалізація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Навчання: класи вразливостей | не змінює критеріїв приймання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Вимоги: планка критичності | без тесту не діє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Проєктування: модель загроз | повнота діаграми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Реалізація: статичний аналіз | не бачить логіки прав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Кожна практика має межу застосовності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6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Практики фаз: верифікація — реагування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Верифікація: фазинг, тест на проникнення | покриття і час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Випуск: перевірка, підпис артефактів | дефекти лишаються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Реагування: виправлення, аналіз причин | позаплановий випуск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6D77"/>
                </a:solidFill>
              </a:rPr>
              <a:t>▸  Межу фази компенсують інші фази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7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Microsoft SDL: контрольні точки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Security Development Lifecycle, 2000-ні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12 практик: від навчання до реагування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Security gates: випуск блокується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Bug bar — планка критичності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Планку фіксують на початку й не знижують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Усуває причину 1: «прийняти як ризик»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8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SDL: заборонені функції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Banned functions: заборона, а не порада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Складання зупиняється на виклику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C: strcpy, sprintf, gets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Python: eval, exec; pickle.loads над зовнішніми даними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subprocess із shell=True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Перевіряє аналізатор, а не рецензент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9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Розбір коду: eval проти json.loads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eval(request.form["limits"])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Рядок запиту виконується як код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json.loads(request.form["limits"])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Дані розбираються як дані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Список ловить синтаксис, а не семантику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json.loads без валідації полів — дефект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10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NIST SP 800-218: SSDF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Словник практик, без приписаних інструментів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PO — підготовка організації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PS — захист ПЗ від несанкціонованої зміни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PW — створення захищеного продукту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RV — реагування на вразливості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Ідентифікатор практики — мова контракту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11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OWASP SAMM v2: структура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Не опис, а вимірювання практик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Керування · проєктування · реалізація · верифікація · експлуатація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5 функцій × 3 практики = 15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Кожна практика — 2 потоки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Рівні: 1 нерегулярно · 2 систематично · 3 вимірюється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12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SAMM: від оцінки до дорожньої карти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Крок 1: опитувальник, поточний стан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Крок 2: цільовий профіль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Крок 3: дорожня карта з ітерацій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Рівномірність важливіша за глибину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Тестування без вимог не має еталона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13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BSIMM: описова модель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Building Security In Maturity Model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Descriptive, а не prescriptive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Що організації роблять насправді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4 домени, 12 практик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Результат: профіль проти галузевого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Поширеність ≠ ефективність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14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Зіставлення моделей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Вимоги: планка критичності · PO.1 · вимоги безпеки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Проєктування: модель загроз · PW.1, PW.2 · оцінювання загроз, архітектура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Залежності: ризик залежностей · PW.4 · складання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Верифікація: аналіз, тест на проникнення · PW.7, PW.8 · тестування за вимогами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Цілісність · реагування: PS.1–PS.3, PW.9 · RV.1–RV.3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SDL — інструкція · SSDF — словник · SAMM — шкала · BSIMM — профіль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15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Вимоги безпеки: негативні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Найдешевша практика, пропускають найчастіше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Описують заборонену поведінку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Негативну вимогу не продемонструвати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Не потрапляє до backlog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Мета: негативна вимога → перевірювана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16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Функціональні й нефункціональні вимоги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Функціональні: механізми захисту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Автентифікація, доступ, журнал, шифрування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Перевірка: звичайні тести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Нефункціональні: властивості всієї системи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Без конкатенації в SQL; секрети поза репозиторієм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Перевірка: правило статичного аналізу, тест-зразок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17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OWASP ASVS 4.0.3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Каталог вимог, 14 розділів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V1 архітектура · V2 автентифікація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V4 доступ · V5 валідація вводу · V12 файли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Вимога: ідентифікатор, рівень, CWE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Посилатися на конкретну версію стандарту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18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Рівні перевірки ASVS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Рівень 1: без доступу до коду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Рівень 2: персональні дані, фінанси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Рівень 3: критичні наслідки компрометації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Рівень обирають один раз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«Рівень 2, крім V4» — типова помилка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Модель загроз — специфічне, ASVS — спільне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19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Історії користувача з безпеки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«Як зловмисник, я не можу…»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V12.1: тіло 6 МБ → 413, пам'ять не зростає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V12.3: ../../../etc/passwd → 400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V4.2: чужий документ → 404, запис у журнал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Критерій приймання = майбутній тест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20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Критерій приймання як тест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Знімок дерева каталогів до запиту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Завантаження «../../../etc/passwd»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status_code == 400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Файлу passwd у дереві немає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Дерево каталогів не змінилося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Доказ вимоги — тест, а не документ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21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Моделі відповідальності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Централізована: вузьке місце, обхід процесу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Розподілена: поверхові рішення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Гібридна: команда безпеки — постачальник засобів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Стандарти, інструменти, навчання, залишковий ризик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Провідник безпеки (security champion)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Формально виділений робочий час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22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Ролі в процесі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Власник продукту: вимоги в backlog, пріоритет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Архітектор: межі довіри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Провідник безпеки: загрози, хибні спрацювання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Команда безпеки: планка, право зупинити випуск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Провідник — не експерт, а раннє виявлення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23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Щільність дефектів і час усунення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D = N / 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N — дефекти, L — тис. рядків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Для модулів і динаміки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Не для порівняння продуктів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MTTR = (1/n) · Σ (t усун,i − t вияв,i)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Сума за всіма n усунутими дефектами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24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DRE і покриття перевірками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200" b="1">
                <a:solidFill>
                  <a:srgbClr val="0B2A4A"/>
                </a:solidFill>
                <a:latin typeface="Courier New"/>
              </a:rPr>
              <a:t>DRE = N до / (N до + N після) · 100 %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Частка дефектів, знайдених до випуску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Покриття: частка репозиторіїв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6D77"/>
                </a:solidFill>
              </a:rPr>
              <a:t>▸  Налаштовано і справді виконується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25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Приклад розрахунку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60 тис. рядків; 24 дефекти до випуску, 6 після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D = 30 / 60 = 0,5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DRE = 24 / 30 · 100 % = 80 %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MTTR = (2 + 5 + 9 + 32) / 4 = 12 діб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Медіана 7 діб, 90-й процентиль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Метрика як ціль для людей — не вимірювання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26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Оцінювання за SAMM: «Проєктування»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Потік: 0 — не виконується, 1–3 — рівні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Оцінювання загроз: 2 і 1 → 1,5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Вимоги безпеки: 1 і 1 → 1,0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Архітектура безпеки: 1 і 0 → 0,5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(1,5 + 1,0 + 0,5) / 3 = 1,0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27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Дорожня карта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Найслабшу практику — до рівня 1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Не найсильнішу — до рівня 3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Захищеність — за найслабшою ланкою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Ціль ітерації: архітектура безпеки, потік B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Перегляд профілю — раз на пів року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28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Висновки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«Зламати й полатати» не працює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SSDLC — практики й контрольні точки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SDL, SSDF, SAMM, BSIMM — різна мета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Вимога → критерій приймання → тест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Ролі й метрики підтримують процес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29 /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Самостійна робота і лекція 5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ISO/IEC 27034 і NIST SSDF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Доказова база в регульованих галузях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SAMM: «Керування дефектами»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Програма провідників безпеки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Джерела: NIST SP 800-218, SAMM v2, ASVS 4.0.3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Лекція 5: принципи безпечного проєктування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4. Захищений життєвий цикл розробки програмного забезпечення</dc:title>
  <dc:subject>Безпека програмного забезпечення</dc:subject>
  <dc:creator>Соколовський В. В.</dc:creator>
  <cp:keywords/>
  <dc:description/>
  <cp:lastModifiedBy>Соколовський В. В.</cp:lastModifiedBy>
  <cp:revision>1</cp:revision>
  <dcterms:created xsi:type="dcterms:W3CDTF">2026-10-07T07:16:13Z</dcterms:created>
  <dcterms:modified xsi:type="dcterms:W3CDTF">2026-10-07T07:16:13Z</dcterms:modified>
  <cp:category/>
</cp:coreProperties>
</file>